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notesMasterIdLst>
    <p:notesMasterId r:id="rId10"/>
  </p:notesMasterIdLst>
  <p:sldIdLst>
    <p:sldId id="256" r:id="rId2"/>
    <p:sldId id="258" r:id="rId3"/>
    <p:sldId id="261" r:id="rId4"/>
    <p:sldId id="262" r:id="rId5"/>
    <p:sldId id="259" r:id="rId6"/>
    <p:sldId id="263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F1D94-9ADE-45A7-94D0-36CB18B9466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49BE5-A702-4C8D-9CFC-EBD8F12410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861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9BE5-A702-4C8D-9CFC-EBD8F124103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43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03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53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75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824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37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76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48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40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75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41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209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871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02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582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139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240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92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0D04A68-BA9A-472B-AAA4-7D9220678095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4355EE8-5156-44C9-A387-FD044C82E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696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8EB3B-6CC7-4D02-9543-A2AA50599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7231" y="2606040"/>
            <a:ext cx="8597538" cy="1645920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Разработка приложения         </a:t>
            </a:r>
            <a:br>
              <a:rPr lang="ru-RU" sz="54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54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аутентификации на </a:t>
            </a:r>
            <a:r>
              <a:rPr lang="en-US" sz="54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Android</a:t>
            </a:r>
            <a:endParaRPr lang="ru-RU" sz="54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66E5E-EEE3-4398-B261-D5681FC7BF1A}"/>
              </a:ext>
            </a:extLst>
          </p:cNvPr>
          <p:cNvSpPr txBox="1"/>
          <p:nvPr/>
        </p:nvSpPr>
        <p:spPr>
          <a:xfrm>
            <a:off x="7924801" y="6211669"/>
            <a:ext cx="4267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Новиков Дмитрий Игоревич</a:t>
            </a:r>
          </a:p>
          <a:p>
            <a:r>
              <a:rPr lang="ru-RU" dirty="0"/>
              <a:t>Руководитель: Богдан Антон Евгеньевич</a:t>
            </a:r>
          </a:p>
        </p:txBody>
      </p:sp>
    </p:spTree>
    <p:extLst>
      <p:ext uri="{BB962C8B-B14F-4D97-AF65-F5344CB8AC3E}">
        <p14:creationId xmlns:p14="http://schemas.microsoft.com/office/powerpoint/2010/main" val="307762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5142BC5-2211-4CFA-BF97-65AB7CF4A844}"/>
              </a:ext>
            </a:extLst>
          </p:cNvPr>
          <p:cNvSpPr/>
          <p:nvPr/>
        </p:nvSpPr>
        <p:spPr>
          <a:xfrm>
            <a:off x="694267" y="3036354"/>
            <a:ext cx="10657948" cy="3542245"/>
          </a:xfrm>
          <a:prstGeom prst="roundRect">
            <a:avLst/>
          </a:prstGeom>
          <a:gradFill flip="none" rotWithShape="1">
            <a:gsLst>
              <a:gs pos="74000">
                <a:srgbClr val="595959"/>
              </a:gs>
              <a:gs pos="51000">
                <a:srgbClr val="565656"/>
              </a:gs>
              <a:gs pos="24000">
                <a:srgbClr val="545454"/>
              </a:gs>
              <a:gs pos="0">
                <a:srgbClr val="525252"/>
              </a:gs>
              <a:gs pos="100000">
                <a:schemeClr val="bg1">
                  <a:shade val="100000"/>
                  <a:satMod val="115000"/>
                  <a:lumMod val="64000"/>
                  <a:lumOff val="3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04798E4-2940-451D-A05C-3D6D67C7EC7A}"/>
              </a:ext>
            </a:extLst>
          </p:cNvPr>
          <p:cNvSpPr/>
          <p:nvPr/>
        </p:nvSpPr>
        <p:spPr>
          <a:xfrm>
            <a:off x="839785" y="972872"/>
            <a:ext cx="10295467" cy="1371600"/>
          </a:xfrm>
          <a:prstGeom prst="roundRect">
            <a:avLst/>
          </a:prstGeom>
          <a:gradFill flip="none" rotWithShape="1">
            <a:gsLst>
              <a:gs pos="74000">
                <a:srgbClr val="595959"/>
              </a:gs>
              <a:gs pos="51000">
                <a:srgbClr val="565656"/>
              </a:gs>
              <a:gs pos="24000">
                <a:srgbClr val="545454"/>
              </a:gs>
              <a:gs pos="0">
                <a:srgbClr val="525252"/>
              </a:gs>
              <a:gs pos="100000">
                <a:schemeClr val="bg1">
                  <a:shade val="100000"/>
                  <a:satMod val="115000"/>
                  <a:lumMod val="64000"/>
                  <a:lumOff val="3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AA4383-582A-433C-B621-03BC620C9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5" y="1031345"/>
            <a:ext cx="10295467" cy="125465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Создать мобильное приложение-</a:t>
            </a:r>
            <a:r>
              <a:rPr lang="ru-RU" sz="2800" dirty="0" err="1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аутентификатор</a:t>
            </a:r>
            <a:r>
              <a:rPr lang="ru-RU" sz="28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для генерации одноразовых кодов и изучить принципы работы двухфакторной аутентификации.</a:t>
            </a:r>
          </a:p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A79B2-65F9-45F4-8CDB-3E1D68A9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79400"/>
            <a:ext cx="1784879" cy="709612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Цель: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C5EC3F8-D715-44CA-A2DC-B871FA992CB3}"/>
              </a:ext>
            </a:extLst>
          </p:cNvPr>
          <p:cNvSpPr txBox="1">
            <a:spLocks/>
          </p:cNvSpPr>
          <p:nvPr/>
        </p:nvSpPr>
        <p:spPr>
          <a:xfrm>
            <a:off x="839785" y="2402945"/>
            <a:ext cx="2242082" cy="7096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Задачи: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226D3D66-93F9-4A49-8288-32066421BF18}"/>
              </a:ext>
            </a:extLst>
          </p:cNvPr>
          <p:cNvSpPr txBox="1">
            <a:spLocks/>
          </p:cNvSpPr>
          <p:nvPr/>
        </p:nvSpPr>
        <p:spPr>
          <a:xfrm>
            <a:off x="839785" y="3094828"/>
            <a:ext cx="10869615" cy="3305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Изучить теорию двухфакторной аутентификации и принципы работы 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TOTP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алгоритмов.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Исследовать преимущество приложений-</a:t>
            </a:r>
            <a:r>
              <a:rPr lang="ru-RU" sz="2000" dirty="0" err="1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аутентификаторов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над другими методами 2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FA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Освоить основы разработки мобильных приложений под 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Android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Установить и настроить среду разработки 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Android Studio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функциональное приложение.</a:t>
            </a:r>
          </a:p>
          <a:p>
            <a:pPr marL="800100" lvl="1" indent="-342900">
              <a:buFont typeface="Wingdings" panose="05000000000000000000" pitchFamily="2" charset="2"/>
              <a:buChar char="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Создать базовый интерфейс.</a:t>
            </a:r>
          </a:p>
          <a:p>
            <a:pPr marL="800100" lvl="1" indent="-342900">
              <a:buFont typeface="Wingdings" panose="05000000000000000000" pitchFamily="2" charset="2"/>
              <a:buChar char="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TOTP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систему генерации кодов.</a:t>
            </a:r>
          </a:p>
          <a:p>
            <a:pPr marL="800100" lvl="1" indent="-342900">
              <a:buFont typeface="Wingdings" panose="05000000000000000000" pitchFamily="2" charset="2"/>
              <a:buChar char="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Внедрить механизм добавления и хранения аккаунтов.</a:t>
            </a:r>
          </a:p>
          <a:p>
            <a:pPr marL="800100" lvl="1" indent="-342900">
              <a:buFont typeface="Wingdings" panose="05000000000000000000" pitchFamily="2" charset="2"/>
              <a:buChar char=""/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  <a:effectLst/>
                <a:ea typeface="Calibri" panose="020F0502020204030204" pitchFamily="34" charset="0"/>
              </a:rPr>
              <a:t>Обеспечить безопасное хранение данных.</a:t>
            </a:r>
            <a:endParaRPr lang="ru-R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"/>
            </a:pP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64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E5DCBA6-E1C7-4AD9-AF71-EA68CAC1768F}"/>
              </a:ext>
            </a:extLst>
          </p:cNvPr>
          <p:cNvSpPr/>
          <p:nvPr/>
        </p:nvSpPr>
        <p:spPr>
          <a:xfrm>
            <a:off x="2148606" y="1591807"/>
            <a:ext cx="7894790" cy="3674386"/>
          </a:xfrm>
          <a:prstGeom prst="roundRect">
            <a:avLst/>
          </a:prstGeom>
          <a:gradFill flip="none" rotWithShape="1">
            <a:gsLst>
              <a:gs pos="74000">
                <a:srgbClr val="595959"/>
              </a:gs>
              <a:gs pos="51000">
                <a:srgbClr val="565656"/>
              </a:gs>
              <a:gs pos="24000">
                <a:srgbClr val="545454"/>
              </a:gs>
              <a:gs pos="0">
                <a:srgbClr val="525252"/>
              </a:gs>
              <a:gs pos="100000">
                <a:schemeClr val="bg1">
                  <a:shade val="100000"/>
                  <a:satMod val="115000"/>
                  <a:lumMod val="64000"/>
                  <a:lumOff val="3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EFC01-A7F8-45D6-8EE1-7154F0B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60326"/>
            <a:ext cx="5892800" cy="862542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 чём этот проект?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30835-5F7A-42C6-9700-7ADCF63BCCB2}"/>
              </a:ext>
            </a:extLst>
          </p:cNvPr>
          <p:cNvSpPr txBox="1"/>
          <p:nvPr/>
        </p:nvSpPr>
        <p:spPr>
          <a:xfrm>
            <a:off x="2148605" y="1591807"/>
            <a:ext cx="7894790" cy="3149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ru-RU" sz="2800" dirty="0"/>
              <a:t>Почему именно такой способ аутентификации?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ru-RU" sz="2800" dirty="0"/>
              <a:t>Какие ещё существуют методы?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ru-RU" sz="2800" dirty="0"/>
              <a:t>Что ещё можно сделать с этим проектом?</a:t>
            </a:r>
          </a:p>
        </p:txBody>
      </p:sp>
    </p:spTree>
    <p:extLst>
      <p:ext uri="{BB962C8B-B14F-4D97-AF65-F5344CB8AC3E}">
        <p14:creationId xmlns:p14="http://schemas.microsoft.com/office/powerpoint/2010/main" val="272289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DC874DB-9243-42E3-8072-1CD791687764}"/>
              </a:ext>
            </a:extLst>
          </p:cNvPr>
          <p:cNvSpPr/>
          <p:nvPr/>
        </p:nvSpPr>
        <p:spPr>
          <a:xfrm>
            <a:off x="1794935" y="972769"/>
            <a:ext cx="8060276" cy="4912461"/>
          </a:xfrm>
          <a:prstGeom prst="roundRect">
            <a:avLst/>
          </a:prstGeom>
          <a:gradFill flip="none" rotWithShape="1">
            <a:gsLst>
              <a:gs pos="74000">
                <a:srgbClr val="595959"/>
              </a:gs>
              <a:gs pos="51000">
                <a:srgbClr val="565656"/>
              </a:gs>
              <a:gs pos="24000">
                <a:srgbClr val="545454"/>
              </a:gs>
              <a:gs pos="0">
                <a:srgbClr val="525252"/>
              </a:gs>
              <a:gs pos="100000">
                <a:schemeClr val="bg1">
                  <a:shade val="100000"/>
                  <a:satMod val="115000"/>
                  <a:lumMod val="64000"/>
                  <a:lumOff val="3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792E1F8-B04B-4767-9E66-33E22D51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933"/>
            <a:ext cx="7281333" cy="728133"/>
          </a:xfrm>
        </p:spPr>
        <p:txBody>
          <a:bodyPr>
            <a:noAutofit/>
          </a:bodyPr>
          <a:lstStyle/>
          <a:p>
            <a:r>
              <a:rPr lang="ru-RU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 этим пользоваться?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F7647F5-1E83-49E7-B9E7-2C6DE4B8B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262" y="1132943"/>
            <a:ext cx="2062463" cy="459211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A35111D-722B-48AE-924C-33965BE88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99" y="5010582"/>
            <a:ext cx="5077534" cy="71447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6E92CB3-0B85-4E83-9F66-ABD4B88A3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754" y="1323274"/>
            <a:ext cx="3811624" cy="311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3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C689950-509B-4C25-99B3-E19EFEBCC895}"/>
              </a:ext>
            </a:extLst>
          </p:cNvPr>
          <p:cNvSpPr/>
          <p:nvPr/>
        </p:nvSpPr>
        <p:spPr>
          <a:xfrm>
            <a:off x="2430509" y="2090172"/>
            <a:ext cx="7330981" cy="2677656"/>
          </a:xfrm>
          <a:prstGeom prst="roundRect">
            <a:avLst/>
          </a:prstGeom>
          <a:gradFill flip="none" rotWithShape="1">
            <a:gsLst>
              <a:gs pos="74000">
                <a:srgbClr val="595959"/>
              </a:gs>
              <a:gs pos="51000">
                <a:srgbClr val="565656"/>
              </a:gs>
              <a:gs pos="24000">
                <a:srgbClr val="545454"/>
              </a:gs>
              <a:gs pos="0">
                <a:srgbClr val="525252"/>
              </a:gs>
              <a:gs pos="100000">
                <a:schemeClr val="bg1">
                  <a:shade val="100000"/>
                  <a:satMod val="115000"/>
                  <a:lumMod val="64000"/>
                  <a:lumOff val="3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805D5-FA65-4497-ABF2-00F1CD06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933"/>
            <a:ext cx="6612467" cy="728133"/>
          </a:xfrm>
        </p:spPr>
        <p:txBody>
          <a:bodyPr>
            <a:noAutofit/>
          </a:bodyPr>
          <a:lstStyle/>
          <a:p>
            <a:r>
              <a:rPr lang="ru-RU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 всё это работает?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05785-3A70-4733-909C-F4F603692EC8}"/>
              </a:ext>
            </a:extLst>
          </p:cNvPr>
          <p:cNvSpPr txBox="1"/>
          <p:nvPr/>
        </p:nvSpPr>
        <p:spPr>
          <a:xfrm>
            <a:off x="2430509" y="2090172"/>
            <a:ext cx="733098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ru-RU" sz="2800" dirty="0"/>
              <a:t>Общий алгоритм действий.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ru-RU" sz="2800" dirty="0"/>
              <a:t>По какому принципу создаются </a:t>
            </a:r>
            <a:r>
              <a:rPr lang="en-US" sz="2800" dirty="0"/>
              <a:t>TOTP </a:t>
            </a:r>
            <a:r>
              <a:rPr lang="ru-RU" sz="2800" dirty="0"/>
              <a:t>коды?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1061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1150E1F-F711-4462-ABDF-132FCE764DAE}"/>
              </a:ext>
            </a:extLst>
          </p:cNvPr>
          <p:cNvSpPr/>
          <p:nvPr/>
        </p:nvSpPr>
        <p:spPr>
          <a:xfrm>
            <a:off x="702733" y="1435439"/>
            <a:ext cx="10843755" cy="4677494"/>
          </a:xfrm>
          <a:prstGeom prst="roundRect">
            <a:avLst/>
          </a:prstGeom>
          <a:gradFill flip="none" rotWithShape="1">
            <a:gsLst>
              <a:gs pos="74000">
                <a:srgbClr val="595959"/>
              </a:gs>
              <a:gs pos="51000">
                <a:srgbClr val="565656"/>
              </a:gs>
              <a:gs pos="24000">
                <a:srgbClr val="545454"/>
              </a:gs>
              <a:gs pos="0">
                <a:srgbClr val="525252"/>
              </a:gs>
              <a:gs pos="100000">
                <a:schemeClr val="bg1">
                  <a:shade val="100000"/>
                  <a:satMod val="115000"/>
                  <a:lumMod val="64000"/>
                  <a:lumOff val="3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D8FE1F1-3A34-487D-B3E3-BECEF37F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933"/>
            <a:ext cx="7239000" cy="728133"/>
          </a:xfrm>
        </p:spPr>
        <p:txBody>
          <a:bodyPr>
            <a:noAutofit/>
          </a:bodyPr>
          <a:lstStyle/>
          <a:p>
            <a:r>
              <a:rPr lang="ru-RU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процессе разработки.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69B884-4F23-4C05-8B17-473954D98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29" y="1571964"/>
            <a:ext cx="2848373" cy="27150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E687FB7-5ACA-4153-8E9D-79C8FA83E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091" y="1571964"/>
            <a:ext cx="4782217" cy="8954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452CE67-6706-437B-ABD3-511F4D34A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8997" y="3924967"/>
            <a:ext cx="2000529" cy="36200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EFBF483-9298-420F-ADC3-28BC4BA20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091" y="2609896"/>
            <a:ext cx="4782218" cy="335414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52CDBF5-DB45-486B-BDED-B2199186B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8997" y="1571964"/>
            <a:ext cx="2000529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6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F867EAA-7888-42A6-8E8E-0C7DD55E1A7B}"/>
              </a:ext>
            </a:extLst>
          </p:cNvPr>
          <p:cNvSpPr/>
          <p:nvPr/>
        </p:nvSpPr>
        <p:spPr>
          <a:xfrm>
            <a:off x="6764270" y="1435439"/>
            <a:ext cx="4488535" cy="4562854"/>
          </a:xfrm>
          <a:prstGeom prst="roundRect">
            <a:avLst/>
          </a:prstGeom>
          <a:gradFill flip="none" rotWithShape="1">
            <a:gsLst>
              <a:gs pos="74000">
                <a:srgbClr val="595959"/>
              </a:gs>
              <a:gs pos="51000">
                <a:srgbClr val="565656"/>
              </a:gs>
              <a:gs pos="24000">
                <a:srgbClr val="545454"/>
              </a:gs>
              <a:gs pos="0">
                <a:srgbClr val="525252"/>
              </a:gs>
              <a:gs pos="100000">
                <a:schemeClr val="bg1">
                  <a:shade val="100000"/>
                  <a:satMod val="115000"/>
                  <a:lumMod val="64000"/>
                  <a:lumOff val="3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25BC781-46ED-472A-AC29-BF2EC1C4509F}"/>
              </a:ext>
            </a:extLst>
          </p:cNvPr>
          <p:cNvSpPr/>
          <p:nvPr/>
        </p:nvSpPr>
        <p:spPr>
          <a:xfrm>
            <a:off x="939197" y="1435439"/>
            <a:ext cx="4488535" cy="4562854"/>
          </a:xfrm>
          <a:prstGeom prst="roundRect">
            <a:avLst/>
          </a:prstGeom>
          <a:gradFill flip="none" rotWithShape="1">
            <a:gsLst>
              <a:gs pos="74000">
                <a:srgbClr val="595959"/>
              </a:gs>
              <a:gs pos="51000">
                <a:srgbClr val="565656"/>
              </a:gs>
              <a:gs pos="24000">
                <a:srgbClr val="545454"/>
              </a:gs>
              <a:gs pos="0">
                <a:srgbClr val="525252"/>
              </a:gs>
              <a:gs pos="100000">
                <a:schemeClr val="bg1">
                  <a:shade val="100000"/>
                  <a:satMod val="115000"/>
                  <a:lumMod val="64000"/>
                  <a:lumOff val="3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805D5-FA65-4497-ABF2-00F1CD06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5" y="59267"/>
            <a:ext cx="3097212" cy="829733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QR-</a:t>
            </a:r>
            <a:r>
              <a:rPr lang="ru-RU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коды: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8B8A09-F6B2-4A7E-B001-82A80CE73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08832" y="5181600"/>
            <a:ext cx="2749267" cy="618067"/>
          </a:xfrm>
        </p:spPr>
        <p:txBody>
          <a:bodyPr>
            <a:normAutofit/>
          </a:bodyPr>
          <a:lstStyle/>
          <a:p>
            <a:r>
              <a:rPr lang="ru-RU" sz="3600" dirty="0"/>
              <a:t>Приложение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32D1F38-2917-4799-8BCC-B3BC69CAA1C1}"/>
              </a:ext>
            </a:extLst>
          </p:cNvPr>
          <p:cNvSpPr txBox="1">
            <a:spLocks/>
          </p:cNvSpPr>
          <p:nvPr/>
        </p:nvSpPr>
        <p:spPr>
          <a:xfrm>
            <a:off x="8408602" y="5181599"/>
            <a:ext cx="1199867" cy="618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/>
              <a:t>Сайт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6B91AB-2550-4F7B-9CAB-13427F059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833" y="2054366"/>
            <a:ext cx="2749267" cy="27492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8750D3-A36E-4086-8575-AB63AC702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902" y="2054365"/>
            <a:ext cx="2749268" cy="27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06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DFDEC4-6D59-41F0-B293-8F5A61D37A97}"/>
              </a:ext>
            </a:extLst>
          </p:cNvPr>
          <p:cNvSpPr txBox="1"/>
          <p:nvPr/>
        </p:nvSpPr>
        <p:spPr>
          <a:xfrm>
            <a:off x="1619454" y="2828835"/>
            <a:ext cx="89530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17661429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2811</TotalTime>
  <Words>152</Words>
  <Application>Microsoft Office PowerPoint</Application>
  <PresentationFormat>Широкоэкранный</PresentationFormat>
  <Paragraphs>29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Wingdings</vt:lpstr>
      <vt:lpstr>Глубина</vt:lpstr>
      <vt:lpstr>Разработка приложения          для аутентификации на Android</vt:lpstr>
      <vt:lpstr>Цель:</vt:lpstr>
      <vt:lpstr>О чём этот проект?</vt:lpstr>
      <vt:lpstr>Как этим пользоваться?</vt:lpstr>
      <vt:lpstr>Как всё это работает?</vt:lpstr>
      <vt:lpstr>В процессе разработки.</vt:lpstr>
      <vt:lpstr>QR-коды: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</dc:title>
  <dc:creator>DimasKarabas N.</dc:creator>
  <cp:lastModifiedBy>DimasKarabas N.</cp:lastModifiedBy>
  <cp:revision>50</cp:revision>
  <dcterms:created xsi:type="dcterms:W3CDTF">2026-02-15T08:11:29Z</dcterms:created>
  <dcterms:modified xsi:type="dcterms:W3CDTF">2026-03-22T20:00:18Z</dcterms:modified>
</cp:coreProperties>
</file>